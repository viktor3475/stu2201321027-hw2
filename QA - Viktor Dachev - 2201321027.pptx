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61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и с карти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00F7D37-690D-DBFC-3360-6DE9EB56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0647"/>
            <a:ext cx="10364451" cy="1596177"/>
          </a:xfrm>
        </p:spPr>
        <p:txBody>
          <a:bodyPr>
            <a:normAutofit/>
          </a:bodyPr>
          <a:lstStyle/>
          <a:p>
            <a:r>
              <a:rPr lang="bg-BG" sz="4300" dirty="0"/>
              <a:t>ЦЕЛИ при тестване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89DCF0F-304B-D4E7-8164-9B8384A2C8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4920" y="1692068"/>
            <a:ext cx="11545368" cy="4905286"/>
          </a:xfrm>
        </p:spPr>
        <p:txBody>
          <a:bodyPr/>
          <a:lstStyle/>
          <a:p>
            <a:pPr marL="0" indent="0">
              <a:buNone/>
            </a:pPr>
            <a:r>
              <a:rPr lang="bg-BG" sz="2700" b="1" dirty="0"/>
              <a:t>Основни цели при тестване</a:t>
            </a:r>
            <a:r>
              <a:rPr lang="en-US" sz="2700" b="1" dirty="0"/>
              <a:t>:</a:t>
            </a:r>
            <a:endParaRPr lang="bg-BG" sz="2700" b="1" dirty="0"/>
          </a:p>
          <a:p>
            <a:r>
              <a:rPr lang="ru-RU" sz="2400" dirty="0" err="1"/>
              <a:t>Точност</a:t>
            </a:r>
            <a:r>
              <a:rPr lang="ru-RU" sz="2400" dirty="0"/>
              <a:t> на </a:t>
            </a:r>
            <a:r>
              <a:rPr lang="ru-RU" sz="2400" dirty="0" err="1"/>
              <a:t>данните</a:t>
            </a:r>
            <a:r>
              <a:rPr lang="ru-RU" sz="2400" dirty="0"/>
              <a:t>: </a:t>
            </a:r>
            <a:r>
              <a:rPr lang="ru-RU" sz="2400" dirty="0" err="1"/>
              <a:t>Гарантиране</a:t>
            </a:r>
            <a:r>
              <a:rPr lang="ru-RU" sz="2400" dirty="0"/>
              <a:t>, че цените, </a:t>
            </a:r>
            <a:r>
              <a:rPr lang="ru-RU" sz="2400" dirty="0" err="1"/>
              <a:t>извлечени</a:t>
            </a:r>
            <a:r>
              <a:rPr lang="ru-RU" sz="2400" dirty="0"/>
              <a:t> от </a:t>
            </a:r>
            <a:r>
              <a:rPr lang="ru-RU" sz="2400" dirty="0" err="1"/>
              <a:t>магазините</a:t>
            </a:r>
            <a:r>
              <a:rPr lang="ru-RU" sz="2400" dirty="0"/>
              <a:t>, </a:t>
            </a:r>
            <a:r>
              <a:rPr lang="ru-RU" sz="2400" dirty="0" err="1"/>
              <a:t>отговарят</a:t>
            </a:r>
            <a:r>
              <a:rPr lang="ru-RU" sz="2400" dirty="0"/>
              <a:t> на </a:t>
            </a:r>
            <a:r>
              <a:rPr lang="ru-RU" sz="2400" dirty="0" err="1"/>
              <a:t>реалността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Стабилност</a:t>
            </a:r>
            <a:r>
              <a:rPr lang="ru-RU" sz="2400" dirty="0"/>
              <a:t>: </a:t>
            </a:r>
            <a:r>
              <a:rPr lang="ru-RU" sz="2400" dirty="0" err="1"/>
              <a:t>Уверяване</a:t>
            </a:r>
            <a:r>
              <a:rPr lang="ru-RU" sz="2400" dirty="0"/>
              <a:t>, че </a:t>
            </a:r>
            <a:r>
              <a:rPr lang="ru-RU" sz="2400" dirty="0" err="1"/>
              <a:t>скраперите</a:t>
            </a:r>
            <a:r>
              <a:rPr lang="ru-RU" sz="2400" dirty="0"/>
              <a:t> </a:t>
            </a:r>
            <a:r>
              <a:rPr lang="ru-RU" sz="2400" dirty="0" err="1"/>
              <a:t>работят</a:t>
            </a:r>
            <a:r>
              <a:rPr lang="ru-RU" sz="2400" dirty="0"/>
              <a:t> </a:t>
            </a:r>
            <a:r>
              <a:rPr lang="ru-RU" sz="2400" dirty="0" err="1"/>
              <a:t>коректно</a:t>
            </a:r>
            <a:r>
              <a:rPr lang="ru-RU" sz="2400" dirty="0"/>
              <a:t> при </a:t>
            </a:r>
            <a:r>
              <a:rPr lang="ru-RU" sz="2400" dirty="0" err="1"/>
              <a:t>промени</a:t>
            </a:r>
            <a:r>
              <a:rPr lang="ru-RU" sz="2400" dirty="0"/>
              <a:t> в </a:t>
            </a:r>
            <a:r>
              <a:rPr lang="ru-RU" sz="2400" dirty="0" err="1"/>
              <a:t>сайтовете</a:t>
            </a:r>
            <a:r>
              <a:rPr lang="ru-RU" sz="2400" dirty="0"/>
              <a:t> на </a:t>
            </a:r>
            <a:r>
              <a:rPr lang="ru-RU" sz="2400" dirty="0" err="1"/>
              <a:t>търговците</a:t>
            </a:r>
            <a:r>
              <a:rPr lang="ru-RU" sz="2400" dirty="0"/>
              <a:t>.</a:t>
            </a:r>
          </a:p>
          <a:p>
            <a:r>
              <a:rPr lang="ru-RU" sz="2400" dirty="0" err="1"/>
              <a:t>Потребителско</a:t>
            </a:r>
            <a:r>
              <a:rPr lang="ru-RU" sz="2400" dirty="0"/>
              <a:t> </a:t>
            </a:r>
            <a:r>
              <a:rPr lang="ru-RU" sz="2400" dirty="0" err="1"/>
              <a:t>преживяване</a:t>
            </a:r>
            <a:r>
              <a:rPr lang="ru-RU" sz="2400" dirty="0"/>
              <a:t>: </a:t>
            </a:r>
            <a:r>
              <a:rPr lang="ru-RU" sz="2400" dirty="0" err="1"/>
              <a:t>Валидиране</a:t>
            </a:r>
            <a:r>
              <a:rPr lang="ru-RU" sz="2400" dirty="0"/>
              <a:t> на </a:t>
            </a:r>
            <a:r>
              <a:rPr lang="ru-RU" sz="2400" dirty="0" err="1"/>
              <a:t>пътя</a:t>
            </a:r>
            <a:r>
              <a:rPr lang="ru-RU" sz="2400" dirty="0"/>
              <a:t> на потребителя от </a:t>
            </a:r>
            <a:r>
              <a:rPr lang="ru-RU" sz="2400" dirty="0" err="1"/>
              <a:t>търсенето</a:t>
            </a:r>
            <a:r>
              <a:rPr lang="ru-RU" sz="2400" dirty="0"/>
              <a:t> до </a:t>
            </a:r>
            <a:r>
              <a:rPr lang="ru-RU" sz="2400" dirty="0" err="1"/>
              <a:t>създаването</a:t>
            </a:r>
            <a:r>
              <a:rPr lang="ru-RU" sz="2400" dirty="0"/>
              <a:t> на </a:t>
            </a:r>
            <a:r>
              <a:rPr lang="ru-RU" sz="2400" dirty="0" err="1"/>
              <a:t>списък</a:t>
            </a:r>
            <a:r>
              <a:rPr lang="ru-RU" sz="2400" dirty="0"/>
              <a:t>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3781711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00F7D37-690D-DBFC-3360-6DE9EB56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0647"/>
            <a:ext cx="10364451" cy="1596177"/>
          </a:xfrm>
        </p:spPr>
        <p:txBody>
          <a:bodyPr>
            <a:normAutofit/>
          </a:bodyPr>
          <a:lstStyle/>
          <a:p>
            <a:r>
              <a:rPr lang="bg-BG" sz="4300" dirty="0"/>
              <a:t>КОМПОНЕНТИ ЗА ТЕСТВАНЕ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89DCF0F-304B-D4E7-8164-9B8384A2C8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4920" y="1692068"/>
            <a:ext cx="11545368" cy="4905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700" b="1" dirty="0"/>
              <a:t>Основни компоненти за тестване</a:t>
            </a:r>
            <a:r>
              <a:rPr lang="en-US" sz="2700" b="1" dirty="0"/>
              <a:t>:</a:t>
            </a:r>
            <a:endParaRPr lang="bg-BG" sz="2700" b="1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Frontend</a:t>
            </a:r>
            <a:r>
              <a:rPr lang="bg-BG" sz="2400" dirty="0"/>
              <a:t>: интерфейс за търсене и визуализация.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Scraping </a:t>
            </a:r>
            <a:r>
              <a:rPr lang="bg-BG" sz="2400" dirty="0"/>
              <a:t>Модул: Автоматизирано събиране на цени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API Layer: REST endpoints </a:t>
            </a:r>
            <a:r>
              <a:rPr lang="bg-BG" sz="2400" dirty="0"/>
              <a:t>за комуникация между клиент и база данни.</a:t>
            </a:r>
            <a:r>
              <a:rPr lang="en-US" sz="2400" dirty="0"/>
              <a:t> </a:t>
            </a:r>
            <a:endParaRPr lang="bg-BG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Database: </a:t>
            </a:r>
            <a:r>
              <a:rPr lang="ru-RU" sz="2400" dirty="0" err="1"/>
              <a:t>Съхранение</a:t>
            </a:r>
            <a:r>
              <a:rPr lang="ru-RU" sz="2400" dirty="0"/>
              <a:t> на </a:t>
            </a:r>
            <a:r>
              <a:rPr lang="ru-RU" sz="2400" dirty="0" err="1"/>
              <a:t>продукти</a:t>
            </a:r>
            <a:r>
              <a:rPr lang="ru-RU" sz="2400" dirty="0"/>
              <a:t> и </a:t>
            </a:r>
            <a:r>
              <a:rPr lang="ru-RU" sz="2400" dirty="0" err="1"/>
              <a:t>потребителски</a:t>
            </a:r>
            <a:r>
              <a:rPr lang="ru-RU" sz="2400" dirty="0"/>
              <a:t> профили.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03562356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5F10D06-000D-9BA1-165F-E39AF8FC6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05771"/>
            <a:ext cx="10364451" cy="1261558"/>
          </a:xfrm>
        </p:spPr>
        <p:txBody>
          <a:bodyPr>
            <a:noAutofit/>
          </a:bodyPr>
          <a:lstStyle/>
          <a:p>
            <a:r>
              <a:rPr lang="bg-BG" sz="4300" dirty="0"/>
              <a:t>РИСК ПЛАН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245CBDEF-DC90-1674-6350-6D370DFFA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0640"/>
              </p:ext>
            </p:extLst>
          </p:nvPr>
        </p:nvGraphicFramePr>
        <p:xfrm>
          <a:off x="1502497" y="1367329"/>
          <a:ext cx="9187004" cy="5065308"/>
        </p:xfrm>
        <a:graphic>
          <a:graphicData uri="http://schemas.openxmlformats.org/drawingml/2006/table">
            <a:tbl>
              <a:tblPr/>
              <a:tblGrid>
                <a:gridCol w="2296751">
                  <a:extLst>
                    <a:ext uri="{9D8B030D-6E8A-4147-A177-3AD203B41FA5}">
                      <a16:colId xmlns:a16="http://schemas.microsoft.com/office/drawing/2014/main" val="4101012764"/>
                    </a:ext>
                  </a:extLst>
                </a:gridCol>
                <a:gridCol w="2296751">
                  <a:extLst>
                    <a:ext uri="{9D8B030D-6E8A-4147-A177-3AD203B41FA5}">
                      <a16:colId xmlns:a16="http://schemas.microsoft.com/office/drawing/2014/main" val="3504369844"/>
                    </a:ext>
                  </a:extLst>
                </a:gridCol>
                <a:gridCol w="2296751">
                  <a:extLst>
                    <a:ext uri="{9D8B030D-6E8A-4147-A177-3AD203B41FA5}">
                      <a16:colId xmlns:a16="http://schemas.microsoft.com/office/drawing/2014/main" val="3238254401"/>
                    </a:ext>
                  </a:extLst>
                </a:gridCol>
                <a:gridCol w="2296751">
                  <a:extLst>
                    <a:ext uri="{9D8B030D-6E8A-4147-A177-3AD203B41FA5}">
                      <a16:colId xmlns:a16="http://schemas.microsoft.com/office/drawing/2014/main" val="3646777269"/>
                    </a:ext>
                  </a:extLst>
                </a:gridCol>
              </a:tblGrid>
              <a:tr h="695725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Риск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Impact</a:t>
                      </a:r>
                      <a:endParaRPr lang="bg-BG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Предизвиква се от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Как може да се справим с него</a:t>
                      </a:r>
                      <a:endParaRPr lang="ru-RU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808192"/>
                  </a:ext>
                </a:extLst>
              </a:tr>
              <a:tr h="1283007">
                <a:tc>
                  <a:txBody>
                    <a:bodyPr/>
                    <a:lstStyle/>
                    <a:p>
                      <a:pPr rtl="0"/>
                      <a:r>
                        <a:rPr lang="ru-RU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Точност</a:t>
                      </a:r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на </a:t>
                      </a:r>
                      <a:r>
                        <a:rPr lang="ru-RU" sz="18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данните</a:t>
                      </a:r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за цени</a:t>
                      </a:r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Висок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Промяна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в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източниците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или грешка при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парсване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Редовни smoke тестове и валидация.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692897"/>
                  </a:ext>
                </a:extLst>
              </a:tr>
              <a:tr h="1107844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Функциониране на </a:t>
                      </a: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Scrapers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Висок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Блокиране на IP адреси от защитите на магазините.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Ротация на IP адреси и "human-like" скриптове.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373682"/>
                  </a:ext>
                </a:extLst>
              </a:tr>
              <a:tr h="989366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Производителност при много потребители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Висок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Голям трафик и едновременни заявки към базата.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Load testing (натоварване) и кеширане.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365929"/>
                  </a:ext>
                </a:extLst>
              </a:tr>
              <a:tr h="989366">
                <a:tc>
                  <a:txBody>
                    <a:bodyPr/>
                    <a:lstStyle/>
                    <a:p>
                      <a:pPr rtl="0"/>
                      <a:r>
                        <a:rPr lang="bg-BG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Сигурност на потребителски данни</a:t>
                      </a:r>
                      <a:endParaRPr lang="bg-BG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Висок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Слаба защита на входните точки (API/Login).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Валидация на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данни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и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тестове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за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сигурност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5982" marR="75982" marT="50654" marB="506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498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2858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881641F-9E0D-D295-99CF-79D4FAD2A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149" y="208319"/>
            <a:ext cx="10364451" cy="1596177"/>
          </a:xfrm>
        </p:spPr>
        <p:txBody>
          <a:bodyPr/>
          <a:lstStyle/>
          <a:p>
            <a:r>
              <a:rPr lang="bg-BG" dirty="0"/>
              <a:t>Тестови сценарии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C11FD64-2F99-158F-5FC6-50743DB3A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43308"/>
              </p:ext>
            </p:extLst>
          </p:nvPr>
        </p:nvGraphicFramePr>
        <p:xfrm>
          <a:off x="1581832" y="1589518"/>
          <a:ext cx="9027084" cy="4498992"/>
        </p:xfrm>
        <a:graphic>
          <a:graphicData uri="http://schemas.openxmlformats.org/drawingml/2006/table">
            <a:tbl>
              <a:tblPr/>
              <a:tblGrid>
                <a:gridCol w="3009028">
                  <a:extLst>
                    <a:ext uri="{9D8B030D-6E8A-4147-A177-3AD203B41FA5}">
                      <a16:colId xmlns:a16="http://schemas.microsoft.com/office/drawing/2014/main" val="3388752606"/>
                    </a:ext>
                  </a:extLst>
                </a:gridCol>
                <a:gridCol w="3009028">
                  <a:extLst>
                    <a:ext uri="{9D8B030D-6E8A-4147-A177-3AD203B41FA5}">
                      <a16:colId xmlns:a16="http://schemas.microsoft.com/office/drawing/2014/main" val="3512237474"/>
                    </a:ext>
                  </a:extLst>
                </a:gridCol>
                <a:gridCol w="3009028">
                  <a:extLst>
                    <a:ext uri="{9D8B030D-6E8A-4147-A177-3AD203B41FA5}">
                      <a16:colId xmlns:a16="http://schemas.microsoft.com/office/drawing/2014/main" val="3254779164"/>
                    </a:ext>
                  </a:extLst>
                </a:gridCol>
              </a:tblGrid>
              <a:tr h="641439">
                <a:tc>
                  <a:txBody>
                    <a:bodyPr/>
                    <a:lstStyle/>
                    <a:p>
                      <a:pPr rtl="0"/>
                      <a:r>
                        <a:rPr lang="bg-BG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Тестов компонент</a:t>
                      </a:r>
                      <a:endParaRPr lang="bg-BG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Описание на задачата (Сценарий)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Очакван Резултат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51873"/>
                  </a:ext>
                </a:extLst>
              </a:tr>
              <a:tr h="892592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Търсене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Търсене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на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съществуващ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и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несъществуващ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продукт.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Списък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с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резултати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  <a:b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2.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Съобщение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"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Няма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намерени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".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73149"/>
                  </a:ext>
                </a:extLst>
              </a:tr>
              <a:tr h="641439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Сравнение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Сравнение на цени от 3+ магазина.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Таблица с цени от Kaufland, Lidl, Billa и др.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151427"/>
                  </a:ext>
                </a:extLst>
              </a:tr>
              <a:tr h="641439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Списък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Добавяне към списък за пазаруване.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Продуктът се запазва успешно в профила.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257167"/>
                  </a:ext>
                </a:extLst>
              </a:tr>
              <a:tr h="641439">
                <a:tc>
                  <a:txBody>
                    <a:bodyPr/>
                    <a:lstStyle/>
                    <a:p>
                      <a:pPr rtl="0"/>
                      <a:r>
                        <a:rPr lang="bg-BG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Локация</a:t>
                      </a:r>
                      <a:endParaRPr lang="bg-BG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g-BG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Филтриране по локация.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Показват се магазини само в радиуса на потребителя.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18069"/>
                  </a:ext>
                </a:extLst>
              </a:tr>
              <a:tr h="892592">
                <a:tc>
                  <a:txBody>
                    <a:bodyPr/>
                    <a:lstStyle/>
                    <a:p>
                      <a:pPr rtl="0"/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 UI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 responsiveness</a:t>
                      </a:r>
                      <a:r>
                        <a:rPr lang="bg-BG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Интерфейсът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се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адаптира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коректно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без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счупени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ru-RU" sz="18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елементи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82313" marR="82313" marT="54876" marB="548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18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58537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4064818-4866-123D-A383-8F7897D91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0"/>
            <a:ext cx="10364451" cy="1596177"/>
          </a:xfrm>
        </p:spPr>
        <p:txBody>
          <a:bodyPr/>
          <a:lstStyle/>
          <a:p>
            <a:r>
              <a:rPr lang="bg-BG" dirty="0"/>
              <a:t>Заключение от тестването</a:t>
            </a:r>
          </a:p>
        </p:txBody>
      </p:sp>
      <p:sp>
        <p:nvSpPr>
          <p:cNvPr id="8" name="Контейнер за съдържание 7">
            <a:extLst>
              <a:ext uri="{FF2B5EF4-FFF2-40B4-BE49-F238E27FC236}">
                <a16:creationId xmlns:a16="http://schemas.microsoft.com/office/drawing/2014/main" id="{D2BE4695-FFAE-A602-22E3-ECB77136142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1596177"/>
            <a:ext cx="10363826" cy="34241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 err="1"/>
              <a:t>Защо</a:t>
            </a:r>
            <a:r>
              <a:rPr lang="ru-RU" sz="2400" b="1" dirty="0"/>
              <a:t> </a:t>
            </a:r>
            <a:r>
              <a:rPr lang="ru-RU" sz="2400" b="1" dirty="0" err="1"/>
              <a:t>тестването</a:t>
            </a:r>
            <a:r>
              <a:rPr lang="ru-RU" sz="2400" b="1" dirty="0"/>
              <a:t> е критично?:</a:t>
            </a:r>
            <a:r>
              <a:rPr lang="ru-RU" sz="2400" dirty="0"/>
              <a:t> </a:t>
            </a:r>
            <a:r>
              <a:rPr lang="ru-RU" sz="2400" dirty="0" err="1"/>
              <a:t>Тестването</a:t>
            </a:r>
            <a:r>
              <a:rPr lang="ru-RU" sz="2400" dirty="0"/>
              <a:t> не е просто </a:t>
            </a:r>
            <a:r>
              <a:rPr lang="ru-RU" sz="2400" dirty="0" err="1"/>
              <a:t>техническа</a:t>
            </a:r>
            <a:r>
              <a:rPr lang="ru-RU" sz="2400" dirty="0"/>
              <a:t> задача, а </a:t>
            </a:r>
            <a:r>
              <a:rPr lang="ru-RU" sz="2400" dirty="0" err="1"/>
              <a:t>гаранция</a:t>
            </a:r>
            <a:r>
              <a:rPr lang="ru-RU" sz="2400" dirty="0"/>
              <a:t>, че </a:t>
            </a:r>
            <a:r>
              <a:rPr lang="ru-RU" sz="2400" dirty="0" err="1"/>
              <a:t>приложението</a:t>
            </a:r>
            <a:r>
              <a:rPr lang="ru-RU" sz="2400" dirty="0"/>
              <a:t> </a:t>
            </a:r>
            <a:r>
              <a:rPr lang="ru-RU" sz="2400" dirty="0" err="1"/>
              <a:t>ще</a:t>
            </a:r>
            <a:r>
              <a:rPr lang="ru-RU" sz="2400" dirty="0"/>
              <a:t> </a:t>
            </a:r>
            <a:r>
              <a:rPr lang="ru-RU" sz="2400" dirty="0" err="1"/>
              <a:t>изпълни</a:t>
            </a:r>
            <a:r>
              <a:rPr lang="ru-RU" sz="2400" dirty="0"/>
              <a:t> </a:t>
            </a:r>
            <a:r>
              <a:rPr lang="ru-RU" sz="2400" dirty="0" err="1"/>
              <a:t>социалната</a:t>
            </a:r>
            <a:r>
              <a:rPr lang="ru-RU" sz="2400" dirty="0"/>
              <a:t> си цел. </a:t>
            </a:r>
            <a:r>
              <a:rPr lang="ru-RU" sz="2400" dirty="0" err="1"/>
              <a:t>Неточните</a:t>
            </a:r>
            <a:r>
              <a:rPr lang="ru-RU" sz="2400" dirty="0"/>
              <a:t> цени </a:t>
            </a:r>
            <a:r>
              <a:rPr lang="ru-RU" sz="2400" dirty="0" err="1"/>
              <a:t>биха</a:t>
            </a:r>
            <a:r>
              <a:rPr lang="ru-RU" sz="2400" dirty="0"/>
              <a:t> подвели най-</a:t>
            </a:r>
            <a:r>
              <a:rPr lang="ru-RU" sz="2400" dirty="0" err="1"/>
              <a:t>уязвимите</a:t>
            </a:r>
            <a:r>
              <a:rPr lang="ru-RU" sz="2400" dirty="0"/>
              <a:t> потребители.</a:t>
            </a:r>
          </a:p>
          <a:p>
            <a:pPr marL="0" indent="0">
              <a:buNone/>
            </a:pPr>
            <a:r>
              <a:rPr lang="ru-RU" sz="2400" dirty="0" err="1"/>
              <a:t>Планът</a:t>
            </a:r>
            <a:r>
              <a:rPr lang="ru-RU" sz="2400" dirty="0"/>
              <a:t> </a:t>
            </a:r>
            <a:r>
              <a:rPr lang="ru-RU" sz="2400" dirty="0" err="1"/>
              <a:t>покрива</a:t>
            </a:r>
            <a:r>
              <a:rPr lang="ru-RU" sz="2400" dirty="0"/>
              <a:t> </a:t>
            </a:r>
            <a:r>
              <a:rPr lang="ru-RU" sz="2400" dirty="0" err="1"/>
              <a:t>критичните</a:t>
            </a:r>
            <a:r>
              <a:rPr lang="ru-RU" sz="2400" dirty="0"/>
              <a:t> </a:t>
            </a:r>
            <a:r>
              <a:rPr lang="ru-RU" sz="2400" dirty="0" err="1"/>
              <a:t>рискове</a:t>
            </a:r>
            <a:r>
              <a:rPr lang="ru-RU" sz="2400" dirty="0"/>
              <a:t> и 5-те </a:t>
            </a:r>
            <a:r>
              <a:rPr lang="ru-RU" sz="2400" dirty="0" err="1"/>
              <a:t>задължителни</a:t>
            </a:r>
            <a:r>
              <a:rPr lang="ru-RU" sz="2400" dirty="0"/>
              <a:t> сценария.</a:t>
            </a:r>
          </a:p>
          <a:p>
            <a:pPr marL="0" indent="0">
              <a:buNone/>
            </a:pPr>
            <a:endParaRPr lang="ru-RU" sz="2400" dirty="0"/>
          </a:p>
          <a:p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40714854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Капчица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{E192F50F-A7EE-4497-83A8-DA7C5D204DC8}TF62d0d592-7ac2-4846-a919-75806e8bead4cd813b97-87e84fd865c8</Template>
  <TotalTime>104</TotalTime>
  <Words>341</Words>
  <Application>Microsoft Office PowerPoint</Application>
  <PresentationFormat>Широк екран</PresentationFormat>
  <Paragraphs>54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9" baseType="lpstr">
      <vt:lpstr>Arial</vt:lpstr>
      <vt:lpstr>Google Sans Text</vt:lpstr>
      <vt:lpstr>Tw Cen MT</vt:lpstr>
      <vt:lpstr>Капчица</vt:lpstr>
      <vt:lpstr>ЦЕЛИ при тестване</vt:lpstr>
      <vt:lpstr>КОМПОНЕНТИ ЗА ТЕСТВАНЕ</vt:lpstr>
      <vt:lpstr>РИСК ПЛАН</vt:lpstr>
      <vt:lpstr>Тестови сценарии</vt:lpstr>
      <vt:lpstr>Заключение от тестването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3</cp:revision>
  <dcterms:created xsi:type="dcterms:W3CDTF">2026-01-16T11:50:59Z</dcterms:created>
  <dcterms:modified xsi:type="dcterms:W3CDTF">2026-01-18T15:10:43Z</dcterms:modified>
</cp:coreProperties>
</file>